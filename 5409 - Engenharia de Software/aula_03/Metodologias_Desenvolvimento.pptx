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Estilo Escuro 1 - Destaqu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16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50024" y="5404104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Carlos Castro</a:t>
            </a:r>
          </a:p>
          <a:p>
            <a:pPr>
              <a:defRPr sz="1600"/>
            </a:pPr>
            <a:r>
              <a:rPr dirty="0"/>
              <a:t>03/11/2025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C8B14A3-CB1E-D614-8210-801ABBDFD0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Metodologias de Desenvolvimento de Software</a:t>
            </a:r>
            <a:br>
              <a:rPr lang="pt-PT" dirty="0"/>
            </a:br>
            <a:endParaRPr lang="pt-PT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Modelo Cascata (Waterfall)</a:t>
            </a:r>
          </a:p>
        </p:txBody>
      </p:sp>
      <p:pic>
        <p:nvPicPr>
          <p:cNvPr id="1026" name="Picture 2" descr="Modelo Cascata ou Modelo Incremental? Comparação e Benefícios">
            <a:extLst>
              <a:ext uri="{FF2B5EF4-FFF2-40B4-BE49-F238E27FC236}">
                <a16:creationId xmlns:a16="http://schemas.microsoft.com/office/drawing/2014/main" id="{731DB3DE-A0C1-5084-C0CF-7BDC1BBEA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232" y="3175254"/>
            <a:ext cx="4910328" cy="368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14400" y="150876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Processo</a:t>
            </a:r>
            <a:r>
              <a:rPr dirty="0"/>
              <a:t> linear e </a:t>
            </a:r>
            <a:r>
              <a:rPr dirty="0" err="1"/>
              <a:t>sequencial</a:t>
            </a:r>
            <a:endParaRPr dirty="0"/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Pouca</a:t>
            </a:r>
            <a:r>
              <a:rPr dirty="0"/>
              <a:t> </a:t>
            </a:r>
            <a:r>
              <a:rPr dirty="0" err="1"/>
              <a:t>flexibilidade</a:t>
            </a:r>
            <a:r>
              <a:rPr dirty="0"/>
              <a:t> a </a:t>
            </a:r>
            <a:r>
              <a:rPr dirty="0" err="1"/>
              <a:t>mudanças</a:t>
            </a:r>
            <a:endParaRPr dirty="0"/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Planeamento</a:t>
            </a:r>
            <a:r>
              <a:rPr dirty="0"/>
              <a:t> e </a:t>
            </a:r>
            <a:r>
              <a:rPr dirty="0" err="1"/>
              <a:t>documentação</a:t>
            </a:r>
            <a:r>
              <a:rPr dirty="0"/>
              <a:t> </a:t>
            </a:r>
            <a:r>
              <a:rPr dirty="0" err="1"/>
              <a:t>detalhada</a:t>
            </a:r>
            <a:endParaRPr dirty="0"/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Adequado</a:t>
            </a:r>
            <a:r>
              <a:rPr dirty="0"/>
              <a:t> a </a:t>
            </a:r>
            <a:r>
              <a:rPr dirty="0" err="1"/>
              <a:t>projetos</a:t>
            </a:r>
            <a:r>
              <a:rPr dirty="0"/>
              <a:t> </a:t>
            </a:r>
            <a:r>
              <a:rPr dirty="0" err="1"/>
              <a:t>estáveis</a:t>
            </a:r>
            <a:endParaRPr dirty="0"/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Exemplo</a:t>
            </a:r>
            <a:r>
              <a:rPr dirty="0"/>
              <a:t>: NASA, Boeing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7784" y="3931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00"/>
                </a:solidFill>
              </a:defRPr>
            </a:pPr>
            <a:r>
              <a:t>Metodologias Ágeis (Scrum / Kanban)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307592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pt-PT" dirty="0"/>
          </a:p>
          <a:p>
            <a:pPr>
              <a:defRPr sz="2200"/>
            </a:pPr>
            <a:r>
              <a:rPr lang="pt-PT" dirty="0"/>
              <a:t>• </a:t>
            </a:r>
            <a:r>
              <a:rPr dirty="0" err="1"/>
              <a:t>Iterativo</a:t>
            </a:r>
            <a:r>
              <a:rPr dirty="0"/>
              <a:t> e incremental</a:t>
            </a:r>
          </a:p>
          <a:p>
            <a:pPr>
              <a:defRPr sz="2200"/>
            </a:pPr>
            <a:r>
              <a:rPr dirty="0"/>
              <a:t>• Feedback </a:t>
            </a:r>
            <a:r>
              <a:rPr dirty="0" err="1"/>
              <a:t>rápido</a:t>
            </a:r>
            <a:r>
              <a:rPr dirty="0"/>
              <a:t> e </a:t>
            </a:r>
            <a:r>
              <a:rPr dirty="0" err="1"/>
              <a:t>contínuo</a:t>
            </a:r>
            <a:endParaRPr dirty="0"/>
          </a:p>
          <a:p>
            <a:pPr>
              <a:defRPr sz="2200"/>
            </a:pPr>
            <a:r>
              <a:rPr dirty="0"/>
              <a:t>• Foco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colaboração</a:t>
            </a:r>
            <a:r>
              <a:rPr dirty="0"/>
              <a:t> e valor </a:t>
            </a:r>
            <a:r>
              <a:rPr dirty="0" err="1"/>
              <a:t>entregue</a:t>
            </a:r>
            <a:endParaRPr dirty="0"/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Equipa</a:t>
            </a:r>
            <a:r>
              <a:rPr dirty="0"/>
              <a:t> </a:t>
            </a:r>
            <a:r>
              <a:rPr dirty="0" err="1"/>
              <a:t>autogerida</a:t>
            </a:r>
            <a:r>
              <a:rPr dirty="0"/>
              <a:t> e </a:t>
            </a:r>
            <a:r>
              <a:rPr dirty="0" err="1"/>
              <a:t>flexível</a:t>
            </a:r>
            <a:endParaRPr dirty="0"/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Exemplo</a:t>
            </a:r>
            <a:r>
              <a:rPr dirty="0"/>
              <a:t>: Google, Spotify</a:t>
            </a:r>
          </a:p>
        </p:txBody>
      </p:sp>
      <p:pic>
        <p:nvPicPr>
          <p:cNvPr id="2050" name="Picture 2" descr="Kanban: o que é, vantagens e exemplos de uso">
            <a:extLst>
              <a:ext uri="{FF2B5EF4-FFF2-40B4-BE49-F238E27FC236}">
                <a16:creationId xmlns:a16="http://schemas.microsoft.com/office/drawing/2014/main" id="{AACE3C99-8F53-87AD-D795-6AB2E4931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84111"/>
            <a:ext cx="9144000" cy="305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94C00"/>
                </a:solidFill>
              </a:defRPr>
            </a:pPr>
            <a:r>
              <a:t>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/>
            </a:pPr>
            <a:r>
              <a:t>• Integra desenvolvimento e operações</a:t>
            </a:r>
          </a:p>
          <a:p>
            <a:pPr>
              <a:defRPr sz="2200"/>
            </a:pPr>
            <a:r>
              <a:t>• Automação e integração contínua (CI/CD)</a:t>
            </a:r>
          </a:p>
          <a:p>
            <a:pPr>
              <a:defRPr sz="2200"/>
            </a:pPr>
            <a:r>
              <a:t>• Entregas rápidas e seguras</a:t>
            </a:r>
          </a:p>
          <a:p>
            <a:pPr>
              <a:defRPr sz="2200"/>
            </a:pPr>
            <a:r>
              <a:t>• Requer cultura colaborativa</a:t>
            </a:r>
          </a:p>
          <a:p>
            <a:pPr>
              <a:defRPr sz="2200"/>
            </a:pPr>
            <a:r>
              <a:t>• Exemplo: Netflix, Amazon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40FDC43-6F27-E588-D6A8-9F77164F0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0781" y1="73858" x2="10781" y2="73858"/>
                        <a14:foregroundMark x1="12500" y1="71320" x2="12500" y2="71320"/>
                        <a14:foregroundMark x1="12812" y1="72843" x2="12812" y2="72843"/>
                        <a14:foregroundMark x1="14688" y1="73604" x2="14688" y2="73604"/>
                        <a14:foregroundMark x1="16094" y1="72081" x2="16094" y2="72081"/>
                        <a14:foregroundMark x1="15937" y1="72081" x2="15937" y2="72081"/>
                        <a14:foregroundMark x1="13594" y1="89086" x2="13594" y2="89086"/>
                        <a14:foregroundMark x1="14688" y1="87563" x2="14688" y2="87563"/>
                        <a14:foregroundMark x1="14531" y1="87056" x2="14531" y2="87056"/>
                        <a14:foregroundMark x1="14531" y1="85279" x2="14531" y2="85279"/>
                        <a14:foregroundMark x1="13125" y1="84518" x2="13125" y2="84518"/>
                        <a14:foregroundMark x1="13125" y1="84518" x2="13125" y2="84518"/>
                        <a14:foregroundMark x1="12969" y1="84518" x2="12969" y2="84518"/>
                        <a14:foregroundMark x1="12344" y1="85025" x2="12344" y2="85025"/>
                        <a14:foregroundMark x1="34844" y1="75381" x2="34844" y2="75381"/>
                        <a14:foregroundMark x1="33438" y1="72335" x2="33438" y2="72335"/>
                        <a14:foregroundMark x1="34531" y1="71320" x2="34531" y2="71320"/>
                        <a14:foregroundMark x1="35625" y1="80457" x2="35625" y2="80457"/>
                        <a14:foregroundMark x1="34688" y1="82234" x2="34688" y2="82234"/>
                        <a14:foregroundMark x1="31719" y1="82995" x2="31719" y2="82995"/>
                        <a14:foregroundMark x1="47969" y1="69797" x2="47969" y2="69797"/>
                        <a14:foregroundMark x1="49375" y1="68528" x2="49375" y2="68528"/>
                        <a14:foregroundMark x1="35469" y1="64213" x2="35469" y2="64213"/>
                        <a14:foregroundMark x1="35625" y1="66751" x2="35625" y2="66751"/>
                        <a14:foregroundMark x1="64219" y1="66751" x2="64219" y2="66751"/>
                        <a14:foregroundMark x1="63750" y1="66497" x2="63750" y2="66497"/>
                        <a14:foregroundMark x1="65781" y1="66244" x2="65781" y2="66244"/>
                        <a14:foregroundMark x1="87969" y1="88579" x2="87969" y2="88579"/>
                        <a14:foregroundMark x1="87656" y1="87817" x2="87656" y2="87817"/>
                        <a14:foregroundMark x1="87969" y1="76904" x2="87969" y2="76904"/>
                        <a14:foregroundMark x1="89375" y1="79442" x2="89375" y2="79442"/>
                        <a14:foregroundMark x1="89375" y1="79188" x2="89375" y2="79188"/>
                        <a14:foregroundMark x1="89063" y1="77919" x2="89063" y2="77919"/>
                        <a14:foregroundMark x1="89688" y1="75888" x2="89688" y2="75888"/>
                        <a14:foregroundMark x1="88750" y1="72335" x2="88750" y2="72335"/>
                        <a14:foregroundMark x1="87344" y1="70558" x2="87344" y2="70558"/>
                        <a14:foregroundMark x1="87031" y1="69543" x2="87031" y2="695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3824" y="3090672"/>
            <a:ext cx="5852160" cy="360273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Comparação dos Modelos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253830"/>
              </p:ext>
            </p:extLst>
          </p:nvPr>
        </p:nvGraphicFramePr>
        <p:xfrm>
          <a:off x="640080" y="1645920"/>
          <a:ext cx="7863840" cy="36576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 err="1"/>
                        <a:t>Critério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/>
                        <a:t>Cascata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t>Ágil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t>DevOps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Estrutura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Iterativa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Contínua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Flexibilidade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/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Muito 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Tardio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Rápido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Constante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Ferramentas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MS Project, UML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Jira, Trello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/>
                        <a:t>Jenkins, Docker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 err="1"/>
                        <a:t>Exemplo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NASA, Boeing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Google, Spotify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/>
                        <a:t>Netflix, Amazon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146</Words>
  <Application>Microsoft Office PowerPoint</Application>
  <PresentationFormat>Apresentação no Ecrã (4:3)</PresentationFormat>
  <Paragraphs>50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Metodologias de Desenvolvimento de Software 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Carlos Castro</dc:creator>
  <cp:keywords/>
  <dc:description>generated using python-pptx</dc:description>
  <cp:lastModifiedBy>Carlos Castro</cp:lastModifiedBy>
  <cp:revision>3</cp:revision>
  <dcterms:created xsi:type="dcterms:W3CDTF">2013-01-27T09:14:16Z</dcterms:created>
  <dcterms:modified xsi:type="dcterms:W3CDTF">2025-11-03T18:02:21Z</dcterms:modified>
  <cp:category/>
</cp:coreProperties>
</file>